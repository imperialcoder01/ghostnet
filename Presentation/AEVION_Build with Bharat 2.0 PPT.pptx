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5" r:id="rId9"/>
    <p:sldId id="263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89949" y="0"/>
            <a:ext cx="10286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2116" y="1656230"/>
            <a:ext cx="13998575" cy="99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257" y="3393593"/>
            <a:ext cx="17231995" cy="2828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jpeg"/><Relationship Id="rId7" Type="http://schemas.openxmlformats.org/officeDocument/2006/relationships/image" Target="../media/image14.jpeg"/><Relationship Id="rId12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jpeg"/><Relationship Id="rId4" Type="http://schemas.openxmlformats.org/officeDocument/2006/relationships/image" Target="../media/image7.jpeg"/><Relationship Id="rId9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jpeg"/><Relationship Id="rId7" Type="http://schemas.openxmlformats.org/officeDocument/2006/relationships/image" Target="../media/image2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7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6.jpeg"/><Relationship Id="rId7" Type="http://schemas.openxmlformats.org/officeDocument/2006/relationships/image" Target="../media/image2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jpe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6.jpeg"/><Relationship Id="rId7" Type="http://schemas.openxmlformats.org/officeDocument/2006/relationships/image" Target="../media/image29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11.png"/><Relationship Id="rId4" Type="http://schemas.openxmlformats.org/officeDocument/2006/relationships/image" Target="../media/image7.jpe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jpeg"/><Relationship Id="rId7" Type="http://schemas.openxmlformats.org/officeDocument/2006/relationships/image" Target="../media/image3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11" Type="http://schemas.openxmlformats.org/officeDocument/2006/relationships/image" Target="../media/image11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7.jpe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host-net-zeta.vercel.app/" TargetMode="External"/><Relationship Id="rId5" Type="http://schemas.openxmlformats.org/officeDocument/2006/relationships/hyperlink" Target="https://github.com/ImperialCoder01/GhostNet" TargetMode="Externa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8.jpeg"/><Relationship Id="rId7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7.jpeg"/><Relationship Id="rId10" Type="http://schemas.openxmlformats.org/officeDocument/2006/relationships/image" Target="../media/image11.png"/><Relationship Id="rId4" Type="http://schemas.openxmlformats.org/officeDocument/2006/relationships/image" Target="../media/image6.jpe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5912" y="6566576"/>
            <a:ext cx="991869" cy="0"/>
          </a:xfrm>
          <a:custGeom>
            <a:avLst/>
            <a:gdLst/>
            <a:ahLst/>
            <a:cxnLst/>
            <a:rect l="l" t="t" r="r" b="b"/>
            <a:pathLst>
              <a:path w="991869">
                <a:moveTo>
                  <a:pt x="0" y="0"/>
                </a:moveTo>
                <a:lnTo>
                  <a:pt x="991268" y="0"/>
                </a:lnTo>
              </a:path>
            </a:pathLst>
          </a:custGeom>
          <a:ln w="95249">
            <a:solidFill>
              <a:srgbClr val="FF5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98454" y="0"/>
            <a:ext cx="17194530" cy="10287000"/>
            <a:chOff x="509905" y="0"/>
            <a:chExt cx="1719453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950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62222" y="3795547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027353" y="1779436"/>
            <a:ext cx="6145999" cy="2216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350" spc="145" dirty="0"/>
              <a:t>BUILD</a:t>
            </a:r>
            <a:endParaRPr sz="14350" dirty="0"/>
          </a:p>
        </p:txBody>
      </p:sp>
      <p:grpSp>
        <p:nvGrpSpPr>
          <p:cNvPr id="11" name="object 11"/>
          <p:cNvGrpSpPr/>
          <p:nvPr/>
        </p:nvGrpSpPr>
        <p:grpSpPr>
          <a:xfrm>
            <a:off x="923204" y="262781"/>
            <a:ext cx="16639540" cy="6340475"/>
            <a:chOff x="899383" y="71388"/>
            <a:chExt cx="16639540" cy="6340475"/>
          </a:xfrm>
        </p:grpSpPr>
        <p:sp>
          <p:nvSpPr>
            <p:cNvPr id="12" name="object 12"/>
            <p:cNvSpPr/>
            <p:nvPr/>
          </p:nvSpPr>
          <p:spPr>
            <a:xfrm>
              <a:off x="10053791" y="3815654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1909" y="6169789"/>
              <a:ext cx="217905" cy="2179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15467" y="6184809"/>
              <a:ext cx="222015" cy="2265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89180" y="6189514"/>
              <a:ext cx="217905" cy="2179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383" y="166056"/>
              <a:ext cx="1607009" cy="16239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017569" y="5691354"/>
            <a:ext cx="595630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-60" dirty="0">
                <a:solidFill>
                  <a:srgbClr val="212121"/>
                </a:solidFill>
                <a:latin typeface="Verdana"/>
                <a:cs typeface="Verdana"/>
              </a:rPr>
              <a:t>N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16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75" dirty="0">
                <a:solidFill>
                  <a:srgbClr val="212121"/>
                </a:solidFill>
                <a:latin typeface="Verdana"/>
                <a:cs typeface="Verdana"/>
              </a:rPr>
              <a:t>I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O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60" dirty="0">
                <a:solidFill>
                  <a:srgbClr val="212121"/>
                </a:solidFill>
                <a:latin typeface="Verdana"/>
                <a:cs typeface="Verdana"/>
              </a:rPr>
              <a:t>N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L</a:t>
            </a:r>
            <a:r>
              <a:rPr sz="2100" b="1" spc="105" dirty="0">
                <a:solidFill>
                  <a:srgbClr val="212121"/>
                </a:solidFill>
                <a:latin typeface="Verdana"/>
                <a:cs typeface="Verdana"/>
              </a:rPr>
              <a:t>  </a:t>
            </a:r>
            <a:r>
              <a:rPr sz="2100" b="1" spc="-75" dirty="0">
                <a:solidFill>
                  <a:srgbClr val="212121"/>
                </a:solidFill>
                <a:latin typeface="Verdana"/>
                <a:cs typeface="Verdana"/>
              </a:rPr>
              <a:t>L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2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55" dirty="0">
                <a:solidFill>
                  <a:srgbClr val="212121"/>
                </a:solidFill>
                <a:latin typeface="Verdana"/>
                <a:cs typeface="Verdana"/>
              </a:rPr>
              <a:t>V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2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L</a:t>
            </a:r>
            <a:r>
              <a:rPr sz="2100" b="1" spc="110" dirty="0">
                <a:solidFill>
                  <a:srgbClr val="212121"/>
                </a:solidFill>
                <a:latin typeface="Verdana"/>
                <a:cs typeface="Verdana"/>
              </a:rPr>
              <a:t>  </a:t>
            </a:r>
            <a:r>
              <a:rPr sz="2100" b="1" spc="-45" dirty="0">
                <a:solidFill>
                  <a:srgbClr val="212121"/>
                </a:solidFill>
                <a:latin typeface="Verdana"/>
                <a:cs typeface="Verdana"/>
              </a:rPr>
              <a:t>H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C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90" dirty="0">
                <a:solidFill>
                  <a:srgbClr val="212121"/>
                </a:solidFill>
                <a:latin typeface="Verdana"/>
                <a:cs typeface="Verdana"/>
              </a:rPr>
              <a:t>K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16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5" dirty="0">
                <a:solidFill>
                  <a:srgbClr val="212121"/>
                </a:solidFill>
                <a:latin typeface="Verdana"/>
                <a:cs typeface="Verdana"/>
              </a:rPr>
              <a:t>H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O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50" dirty="0">
                <a:solidFill>
                  <a:srgbClr val="212121"/>
                </a:solidFill>
                <a:latin typeface="Verdana"/>
                <a:cs typeface="Verdana"/>
              </a:rPr>
              <a:t>N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95065" y="6398515"/>
            <a:ext cx="5419988" cy="3045706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r>
              <a:rPr sz="2500" b="1" spc="-300" dirty="0">
                <a:solidFill>
                  <a:schemeClr val="tx2">
                    <a:lumMod val="60000"/>
                    <a:lumOff val="40000"/>
                  </a:schemeClr>
                </a:solidFill>
                <a:latin typeface="Verdana"/>
                <a:cs typeface="Verdana"/>
              </a:rPr>
              <a:t>T E A M  N A M E :</a:t>
            </a:r>
            <a:r>
              <a:rPr lang="en-IN" sz="2500" b="1" spc="-300" dirty="0">
                <a:solidFill>
                  <a:schemeClr val="tx2">
                    <a:lumMod val="60000"/>
                    <a:lumOff val="40000"/>
                  </a:schemeClr>
                </a:solidFill>
                <a:latin typeface="Verdana"/>
                <a:cs typeface="Verdana"/>
              </a:rPr>
              <a:t>    </a:t>
            </a:r>
            <a:r>
              <a:rPr lang="en-US" sz="3200" b="1" spc="-50" dirty="0">
                <a:solidFill>
                  <a:srgbClr val="0000FF"/>
                </a:solidFill>
                <a:latin typeface="Bookman Old Style"/>
                <a:cs typeface="Arial"/>
              </a:rPr>
              <a:t>AEVION</a:t>
            </a:r>
          </a:p>
          <a:p>
            <a:pPr marL="12700" marR="5080">
              <a:lnSpc>
                <a:spcPts val="4840"/>
              </a:lnSpc>
              <a:spcBef>
                <a:spcPts val="240"/>
              </a:spcBef>
            </a:pPr>
            <a:r>
              <a:rPr sz="2500" b="1" spc="-300" dirty="0">
                <a:solidFill>
                  <a:schemeClr val="tx2">
                    <a:lumMod val="60000"/>
                    <a:lumOff val="40000"/>
                  </a:schemeClr>
                </a:solidFill>
                <a:latin typeface="Verdana"/>
                <a:cs typeface="Verdana"/>
              </a:rPr>
              <a:t>T E A M  M E M B E R S :</a:t>
            </a:r>
            <a:endParaRPr sz="2500" spc="-300" dirty="0">
              <a:solidFill>
                <a:schemeClr val="tx2">
                  <a:lumMod val="60000"/>
                  <a:lumOff val="40000"/>
                </a:schemeClr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br>
              <a:rPr lang="en-US" sz="2500" b="1" dirty="0">
                <a:solidFill>
                  <a:srgbClr val="212121"/>
                </a:solidFill>
                <a:latin typeface="Verdana"/>
                <a:cs typeface="Verdana"/>
              </a:rPr>
            </a:br>
            <a:br>
              <a:rPr lang="en-US" sz="2500" b="1" dirty="0">
                <a:solidFill>
                  <a:srgbClr val="212121"/>
                </a:solidFill>
                <a:latin typeface="Verdana"/>
                <a:cs typeface="Verdana"/>
              </a:rPr>
            </a:br>
            <a:br>
              <a:rPr lang="en-US" sz="2500" b="1" dirty="0">
                <a:solidFill>
                  <a:srgbClr val="212121"/>
                </a:solidFill>
                <a:latin typeface="Verdana"/>
                <a:cs typeface="Verdana"/>
              </a:rPr>
            </a:br>
            <a:endParaRPr lang="pt-BR" sz="2500" b="1" dirty="0">
              <a:solidFill>
                <a:srgbClr val="212121"/>
              </a:solidFill>
              <a:latin typeface="Verdana"/>
              <a:cs typeface="Verdan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C4C0D6-8EAD-4235-8B08-14D0373AF783}"/>
              </a:ext>
            </a:extLst>
          </p:cNvPr>
          <p:cNvSpPr txBox="1"/>
          <p:nvPr/>
        </p:nvSpPr>
        <p:spPr>
          <a:xfrm>
            <a:off x="9706765" y="2224888"/>
            <a:ext cx="31893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9600" b="1" spc="-720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351BB6-2397-476F-BB6A-BECD981C27E6}"/>
              </a:ext>
            </a:extLst>
          </p:cNvPr>
          <p:cNvSpPr txBox="1"/>
          <p:nvPr/>
        </p:nvSpPr>
        <p:spPr>
          <a:xfrm>
            <a:off x="7748537" y="2880813"/>
            <a:ext cx="284252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spc="-20" dirty="0">
                <a:solidFill>
                  <a:srgbClr val="8625B4"/>
                </a:solidFill>
                <a:latin typeface="Tahoma"/>
                <a:cs typeface="Tahoma"/>
              </a:rPr>
              <a:t>WITH</a:t>
            </a:r>
            <a:endParaRPr lang="en-IN" sz="4000" dirty="0">
              <a:latin typeface="Tahoma"/>
              <a:cs typeface="Tahoma"/>
            </a:endParaRP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1183F3-86CC-4F8C-9EF0-4F9548F4B70F}"/>
              </a:ext>
            </a:extLst>
          </p:cNvPr>
          <p:cNvSpPr txBox="1"/>
          <p:nvPr/>
        </p:nvSpPr>
        <p:spPr>
          <a:xfrm>
            <a:off x="13165401" y="2189140"/>
            <a:ext cx="38862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8800" b="1" spc="-25" dirty="0">
                <a:solidFill>
                  <a:srgbClr val="FF5C1F"/>
                </a:solidFill>
                <a:latin typeface="Tahoma"/>
                <a:cs typeface="Tahoma"/>
              </a:rPr>
              <a:t>2.</a:t>
            </a:r>
            <a:r>
              <a:rPr lang="en-IN" sz="8800" b="1" spc="-25" dirty="0">
                <a:solidFill>
                  <a:srgbClr val="FF5C1F"/>
                </a:solidFill>
                <a:latin typeface="Tahoma"/>
                <a:cs typeface="Tahoma"/>
              </a:rPr>
              <a:t>G0</a:t>
            </a:r>
            <a:endParaRPr lang="en-IN" sz="8800" dirty="0">
              <a:latin typeface="Tahoma"/>
              <a:cs typeface="Tahoma"/>
            </a:endParaRPr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BF720B-0137-46E1-904C-7FA112B57E00}"/>
              </a:ext>
            </a:extLst>
          </p:cNvPr>
          <p:cNvSpPr txBox="1"/>
          <p:nvPr/>
        </p:nvSpPr>
        <p:spPr>
          <a:xfrm>
            <a:off x="3222131" y="7640472"/>
            <a:ext cx="450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Vishal Kumar Tripathi     </a:t>
            </a:r>
          </a:p>
          <a:p>
            <a:pPr marL="457200" indent="-457200">
              <a:buAutoNum type="arabicPeriod"/>
            </a:pPr>
            <a:r>
              <a:rPr lang="en-I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Sidhinath Kumar   </a:t>
            </a:r>
          </a:p>
          <a:p>
            <a:pPr marL="457200" indent="-457200">
              <a:buAutoNum type="arabicPeriod"/>
            </a:pPr>
            <a:r>
              <a:rPr lang="en-I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Ujjal Rizal    </a:t>
            </a:r>
          </a:p>
          <a:p>
            <a:pPr marL="457200" indent="-457200">
              <a:buAutoNum type="arabicPeriod"/>
            </a:pPr>
            <a:r>
              <a:rPr lang="en-I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Aniket Chauhan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CCE975C-B372-460F-AF6B-0567FF7BF1E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363902" y="4143521"/>
            <a:ext cx="3166471" cy="27012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C62A385-2E86-47C8-ADBD-573B58688D63}"/>
              </a:ext>
            </a:extLst>
          </p:cNvPr>
          <p:cNvSpPr txBox="1"/>
          <p:nvPr/>
        </p:nvSpPr>
        <p:spPr>
          <a:xfrm>
            <a:off x="881798" y="4143521"/>
            <a:ext cx="4299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Project Title:</a:t>
            </a:r>
            <a:endParaRPr lang="en-US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4E3961-F736-4FCD-BC79-437EBAAE0D60}"/>
              </a:ext>
            </a:extLst>
          </p:cNvPr>
          <p:cNvSpPr txBox="1"/>
          <p:nvPr/>
        </p:nvSpPr>
        <p:spPr>
          <a:xfrm>
            <a:off x="3963933" y="4117052"/>
            <a:ext cx="4379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0" dirty="0">
                <a:solidFill>
                  <a:srgbClr val="0000FF"/>
                </a:solidFill>
                <a:effectLst/>
                <a:latin typeface="Space Grotesk"/>
              </a:rPr>
              <a:t>GhostNet</a:t>
            </a:r>
            <a:endParaRPr lang="en-IN" sz="4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74645A-EF90-4EEF-A67C-F53EBB12B93D}"/>
              </a:ext>
            </a:extLst>
          </p:cNvPr>
          <p:cNvSpPr txBox="1"/>
          <p:nvPr/>
        </p:nvSpPr>
        <p:spPr>
          <a:xfrm>
            <a:off x="6213081" y="4258962"/>
            <a:ext cx="74660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EB1D4"/>
                </a:solidFill>
              </a:rPr>
              <a:t>Detect. Prevent. Stay Ahead of Scams</a:t>
            </a:r>
            <a:r>
              <a:rPr lang="en-US" b="1" dirty="0">
                <a:solidFill>
                  <a:srgbClr val="1EB1D4"/>
                </a:solidFill>
              </a:rPr>
              <a:t>.</a:t>
            </a:r>
            <a:endParaRPr lang="en-US" dirty="0">
              <a:solidFill>
                <a:srgbClr val="1EB1D4"/>
              </a:solidFill>
            </a:endParaRPr>
          </a:p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20DA7-317A-4B8C-BFA4-836955016840}"/>
              </a:ext>
            </a:extLst>
          </p:cNvPr>
          <p:cNvSpPr txBox="1"/>
          <p:nvPr/>
        </p:nvSpPr>
        <p:spPr>
          <a:xfrm>
            <a:off x="4457301" y="4886412"/>
            <a:ext cx="91163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AI-Powered Fraud Detection &amp; Scam Intelligence Platform</a:t>
            </a:r>
          </a:p>
          <a:p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1B4ABC-22AF-43BA-8F3D-4AFEB26BD9D0}"/>
              </a:ext>
            </a:extLst>
          </p:cNvPr>
          <p:cNvSpPr txBox="1"/>
          <p:nvPr/>
        </p:nvSpPr>
        <p:spPr>
          <a:xfrm>
            <a:off x="7944820" y="6338723"/>
            <a:ext cx="6364681" cy="2758699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marL="50800" algn="l">
              <a:lnSpc>
                <a:spcPct val="150000"/>
              </a:lnSpc>
              <a:spcBef>
                <a:spcPts val="5"/>
              </a:spcBef>
            </a:pPr>
            <a:r>
              <a:rPr lang="en-US" sz="4400" b="1" spc="-30" baseline="-25000" dirty="0">
                <a:latin typeface="Aptos" panose="020B0004020202020204" pitchFamily="34" charset="0"/>
                <a:ea typeface="Calibri"/>
                <a:cs typeface="Arial"/>
              </a:rPr>
              <a:t>THEME:</a:t>
            </a:r>
            <a:endParaRPr lang="en-US" sz="4400" b="1" i="1" spc="-30" baseline="-9803" dirty="0">
              <a:solidFill>
                <a:srgbClr val="7030A0"/>
              </a:solidFill>
              <a:latin typeface="Book Antiqua"/>
              <a:ea typeface="Calibri"/>
              <a:cs typeface="Arial"/>
            </a:endParaRPr>
          </a:p>
          <a:p>
            <a:pPr marL="50800">
              <a:lnSpc>
                <a:spcPct val="150000"/>
              </a:lnSpc>
              <a:spcBef>
                <a:spcPts val="5"/>
              </a:spcBef>
            </a:pPr>
            <a:r>
              <a:rPr lang="en-US" sz="4000" b="1" i="1" spc="-30" baseline="-9803" dirty="0">
                <a:solidFill>
                  <a:srgbClr val="7030A0"/>
                </a:solidFill>
                <a:latin typeface="Bookman Old Style" panose="02050604050505020204" pitchFamily="18" charset="0"/>
                <a:ea typeface="Calibri"/>
                <a:cs typeface="Calibri"/>
              </a:rPr>
              <a:t>CYBERSECURITY</a:t>
            </a:r>
          </a:p>
          <a:p>
            <a:pPr marL="50800">
              <a:lnSpc>
                <a:spcPct val="150000"/>
              </a:lnSpc>
              <a:spcBef>
                <a:spcPts val="5"/>
              </a:spcBef>
            </a:pPr>
            <a:r>
              <a:rPr lang="en-US" sz="4000" b="1" spc="-30" baseline="-25000" dirty="0">
                <a:latin typeface="Aptos" panose="020B0004020202020204" pitchFamily="34" charset="0"/>
                <a:ea typeface="Calibri"/>
                <a:cs typeface="Arial"/>
              </a:rPr>
              <a:t>Problem Statement:</a:t>
            </a:r>
          </a:p>
          <a:p>
            <a:pPr marL="50800">
              <a:lnSpc>
                <a:spcPct val="150000"/>
              </a:lnSpc>
              <a:spcBef>
                <a:spcPts val="5"/>
              </a:spcBef>
            </a:pPr>
            <a:r>
              <a:rPr lang="en-US" sz="2400" i="1" dirty="0">
                <a:solidFill>
                  <a:srgbClr val="7030A0"/>
                </a:solidFill>
                <a:latin typeface="Bookman Old Style" panose="02050604050505020204" pitchFamily="18" charset="0"/>
              </a:rPr>
              <a:t>Innovative Solution for Cybersecurity</a:t>
            </a:r>
            <a:endParaRPr lang="en-US" sz="4000" b="1" i="1" spc="-30" baseline="-9803" dirty="0">
              <a:solidFill>
                <a:srgbClr val="7030A0"/>
              </a:solidFill>
              <a:latin typeface="Bookman Old Style" panose="02050604050505020204" pitchFamily="18" charset="0"/>
              <a:ea typeface="Calibri"/>
              <a:cs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0AAFFB8-A241-226D-00F9-B4E0C598D2F1}"/>
              </a:ext>
            </a:extLst>
          </p:cNvPr>
          <p:cNvGrpSpPr/>
          <p:nvPr/>
        </p:nvGrpSpPr>
        <p:grpSpPr>
          <a:xfrm>
            <a:off x="2530213" y="9084192"/>
            <a:ext cx="13642762" cy="523220"/>
            <a:chOff x="2517209" y="9206430"/>
            <a:chExt cx="13642762" cy="52322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7D04DE-9E94-48A4-B733-B44D1F9ABF70}"/>
                </a:ext>
              </a:extLst>
            </p:cNvPr>
            <p:cNvSpPr txBox="1"/>
            <p:nvPr/>
          </p:nvSpPr>
          <p:spPr>
            <a:xfrm>
              <a:off x="5022157" y="9253835"/>
              <a:ext cx="11137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FF0000"/>
                  </a:solidFill>
                </a:rPr>
                <a:t>KCC INSTITUTE OF TECHNOLOGY AND MANAGEMENT , GREATER NOIDA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78801C-B6B8-FBC7-9969-DB3D195436FB}"/>
                </a:ext>
              </a:extLst>
            </p:cNvPr>
            <p:cNvSpPr txBox="1"/>
            <p:nvPr/>
          </p:nvSpPr>
          <p:spPr>
            <a:xfrm>
              <a:off x="2517209" y="9206430"/>
              <a:ext cx="24208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Verdana"/>
                  <a:cs typeface="Verdana"/>
                </a:rPr>
                <a:t>C O L L E G E :</a:t>
              </a:r>
              <a:endParaRPr lang="pt-BR" sz="2800" spc="-300" dirty="0">
                <a:solidFill>
                  <a:schemeClr val="tx2">
                    <a:lumMod val="60000"/>
                    <a:lumOff val="40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3694" y="377465"/>
            <a:ext cx="17767214" cy="10287000"/>
            <a:chOff x="4089949" y="0"/>
            <a:chExt cx="1382966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949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77131" y="2194519"/>
              <a:ext cx="6921500" cy="0"/>
            </a:xfrm>
            <a:custGeom>
              <a:avLst/>
              <a:gdLst/>
              <a:ahLst/>
              <a:cxnLst/>
              <a:rect l="l" t="t" r="r" b="b"/>
              <a:pathLst>
                <a:path w="6921500">
                  <a:moveTo>
                    <a:pt x="0" y="0"/>
                  </a:moveTo>
                  <a:lnTo>
                    <a:pt x="6920876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PROBLEM</a:t>
            </a:r>
            <a:r>
              <a:rPr spc="-40" dirty="0"/>
              <a:t> </a:t>
            </a:r>
            <a:r>
              <a:rPr spc="165" dirty="0"/>
              <a:t>STATEMENT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13112F-4929-4A02-880A-F4CBB713F462}"/>
              </a:ext>
            </a:extLst>
          </p:cNvPr>
          <p:cNvSpPr/>
          <p:nvPr/>
        </p:nvSpPr>
        <p:spPr>
          <a:xfrm>
            <a:off x="447092" y="2859890"/>
            <a:ext cx="7438567" cy="39995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B0F2A8-0924-4E94-A015-56F4BD22448A}"/>
              </a:ext>
            </a:extLst>
          </p:cNvPr>
          <p:cNvSpPr txBox="1"/>
          <p:nvPr/>
        </p:nvSpPr>
        <p:spPr>
          <a:xfrm>
            <a:off x="1971347" y="2943067"/>
            <a:ext cx="613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7030A0"/>
                </a:solidFill>
              </a:rPr>
              <a:t>Problem We’re Solving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85646E-A3A8-47AE-B8B1-EFF7A9FF0856}"/>
              </a:ext>
            </a:extLst>
          </p:cNvPr>
          <p:cNvSpPr txBox="1"/>
          <p:nvPr/>
        </p:nvSpPr>
        <p:spPr>
          <a:xfrm>
            <a:off x="762000" y="3585155"/>
            <a:ext cx="68122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India is witnessing a sharp rise in digital fraud, with </a:t>
            </a:r>
            <a:r>
              <a:rPr lang="en-US" sz="1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UPI and online scams costing users thousands of crores annually</a:t>
            </a:r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Phishing links, fake payment screenshots, and scam messages</a:t>
            </a:r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exploit urgency and trust, leading to widespread financial losses.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Users lack a </a:t>
            </a:r>
            <a:r>
              <a:rPr lang="en-US" sz="1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real-time, unified system to verify links, UPI IDs, or messages before acting</a:t>
            </a:r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, making them highly vulnerable to scams. </a:t>
            </a:r>
          </a:p>
          <a:p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FD9A39A-6432-430D-A043-BBB5F5E7C32B}"/>
              </a:ext>
            </a:extLst>
          </p:cNvPr>
          <p:cNvSpPr/>
          <p:nvPr/>
        </p:nvSpPr>
        <p:spPr>
          <a:xfrm>
            <a:off x="9104858" y="2705412"/>
            <a:ext cx="8551972" cy="69338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08E4AAF-ED62-47DF-B934-FFFBC5EECB3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89672" y="2972912"/>
            <a:ext cx="6982344" cy="6387114"/>
          </a:xfrm>
          <a:prstGeom prst="roundRect">
            <a:avLst>
              <a:gd name="adj" fmla="val 5009"/>
            </a:avLst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3908BBE-0228-4A52-BCFE-F4EBF298ABB8}"/>
              </a:ext>
            </a:extLst>
          </p:cNvPr>
          <p:cNvSpPr/>
          <p:nvPr/>
        </p:nvSpPr>
        <p:spPr>
          <a:xfrm>
            <a:off x="310111" y="7001626"/>
            <a:ext cx="8315908" cy="26669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800" dirty="0">
              <a:solidFill>
                <a:srgbClr val="7030A0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2F3BA0-C0C6-4328-8710-9402840DC08C}"/>
              </a:ext>
            </a:extLst>
          </p:cNvPr>
          <p:cNvSpPr txBox="1"/>
          <p:nvPr/>
        </p:nvSpPr>
        <p:spPr>
          <a:xfrm>
            <a:off x="1061608" y="7194496"/>
            <a:ext cx="6449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 err="1">
                <a:solidFill>
                  <a:schemeClr val="bg1"/>
                </a:solidFill>
              </a:rPr>
              <a:t>llablabeot</a:t>
            </a:r>
            <a:r>
              <a:rPr lang="en-US" sz="1800" u="sng" dirty="0">
                <a:solidFill>
                  <a:schemeClr val="bg1"/>
                </a:solidFill>
              </a:rPr>
              <a:t> Causes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2283CF-0F63-46DA-9269-D6BE815F7680}"/>
              </a:ext>
            </a:extLst>
          </p:cNvPr>
          <p:cNvSpPr txBox="1"/>
          <p:nvPr/>
        </p:nvSpPr>
        <p:spPr>
          <a:xfrm>
            <a:off x="637592" y="7775408"/>
            <a:ext cx="73634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🧠 Low awareness &amp; psychological manipulation</a:t>
            </a:r>
          </a:p>
          <a:p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🔗 Lack of real-time verification systems</a:t>
            </a:r>
          </a:p>
          <a:p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🧩 Fragmented security solutions</a:t>
            </a:r>
          </a:p>
          <a:p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🌐 Rapid growth of digital payments (UPI exposure)</a:t>
            </a:r>
          </a:p>
          <a:p>
            <a:r>
              <a:rPr lang="en-US" sz="1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🖼️ Advanced scam techniques (fake screenshots, phishing)</a:t>
            </a:r>
            <a:endParaRPr lang="en-US" sz="1800" dirty="0">
              <a:solidFill>
                <a:srgbClr val="7030A0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538B4E-1D61-CEB0-DB35-DD16AFA4A58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t="4069" r="18730" b="16835"/>
          <a:stretch>
            <a:fillRect/>
          </a:stretch>
        </p:blipFill>
        <p:spPr>
          <a:xfrm>
            <a:off x="13866541" y="151685"/>
            <a:ext cx="1822436" cy="1534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SOLUTION</a:t>
            </a:r>
            <a:r>
              <a:rPr lang="en-US" spc="50" dirty="0"/>
              <a:t> </a:t>
            </a:r>
            <a:endParaRPr spc="50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5475455" y="2194520"/>
              <a:ext cx="12322810" cy="0"/>
            </a:xfrm>
            <a:custGeom>
              <a:avLst/>
              <a:gdLst/>
              <a:ahLst/>
              <a:cxnLst/>
              <a:rect l="l" t="t" r="r" b="b"/>
              <a:pathLst>
                <a:path w="12322810">
                  <a:moveTo>
                    <a:pt x="0" y="0"/>
                  </a:moveTo>
                  <a:lnTo>
                    <a:pt x="12322551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BECE18-643D-4084-B186-4B1AA68A8112}"/>
              </a:ext>
            </a:extLst>
          </p:cNvPr>
          <p:cNvSpPr txBox="1"/>
          <p:nvPr/>
        </p:nvSpPr>
        <p:spPr>
          <a:xfrm>
            <a:off x="4892788" y="2336080"/>
            <a:ext cx="8991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80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6000"/>
                  </a:srgbClr>
                </a:solidFill>
                <a:effectLst/>
                <a:uLnTx/>
                <a:uFillTx/>
                <a:latin typeface="Georgia"/>
                <a:ea typeface="+mj-ea"/>
              </a:rPr>
              <a:t>OUR UNIQUE SOLUTION</a:t>
            </a:r>
            <a:b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6000"/>
                  </a:srgbClr>
                </a:solidFill>
                <a:effectLst/>
                <a:uLnTx/>
                <a:uFillTx/>
                <a:latin typeface="Georgia"/>
                <a:ea typeface="+mj-ea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Calibri"/>
              </a:rPr>
              <a:t>AI-Powered Fraud Detection &amp; Scam Intelligence 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2A612-715D-4448-85B4-EDA331FF6AD2}"/>
              </a:ext>
            </a:extLst>
          </p:cNvPr>
          <p:cNvSpPr txBox="1"/>
          <p:nvPr/>
        </p:nvSpPr>
        <p:spPr>
          <a:xfrm>
            <a:off x="990600" y="3619500"/>
            <a:ext cx="65633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800" b="1" dirty="0"/>
              <a:t>🚨 </a:t>
            </a:r>
            <a:r>
              <a:rPr lang="en-US" sz="1800" b="1" dirty="0">
                <a:solidFill>
                  <a:schemeClr val="accent2"/>
                </a:solidFill>
              </a:rPr>
              <a:t>THE PROBLEM:</a:t>
            </a:r>
          </a:p>
          <a:p>
            <a:pPr>
              <a:buNone/>
            </a:pPr>
            <a:endParaRPr lang="en-US" sz="1800" b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n-US" sz="1800" dirty="0"/>
              <a:t>₹10,000+ Cr lost annually to digital scams</a:t>
            </a:r>
            <a:br>
              <a:rPr lang="en-US" sz="1800" dirty="0"/>
            </a:br>
            <a:r>
              <a:rPr lang="en-US" sz="1800" dirty="0"/>
              <a:t>13L+ cybercrime cases reported yearly</a:t>
            </a:r>
            <a:br>
              <a:rPr lang="en-US" sz="1800" dirty="0"/>
            </a:br>
            <a:r>
              <a:rPr lang="en-US" sz="1800" dirty="0"/>
              <a:t>No real-time scam verification system</a:t>
            </a:r>
            <a:br>
              <a:rPr lang="en-US" sz="1800" dirty="0"/>
            </a:br>
            <a:r>
              <a:rPr lang="en-US" sz="1800" dirty="0"/>
              <a:t>Rising phishing, fake UPI &amp; screenshot fraud</a:t>
            </a: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43645F-1DB7-436D-B5FC-D9C9B6DC5DF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91222" y="3148498"/>
            <a:ext cx="3305556" cy="3215561"/>
          </a:xfrm>
          <a:prstGeom prst="flowChartConnector">
            <a:avLst/>
          </a:prstGeom>
          <a:effectLst/>
        </p:spPr>
      </p:pic>
      <p:pic>
        <p:nvPicPr>
          <p:cNvPr id="18" name="Picture 17" descr="A green shield with white outline&#10;&#10;AI-generated content may be incorrect.">
            <a:extLst>
              <a:ext uri="{FF2B5EF4-FFF2-40B4-BE49-F238E27FC236}">
                <a16:creationId xmlns:a16="http://schemas.microsoft.com/office/drawing/2014/main" id="{9A91DFDE-C839-432D-9BD5-2BF87C04631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000" y="6742846"/>
            <a:ext cx="919183" cy="6852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4B8DF1-9690-4F6A-894E-9686EBB46A91}"/>
              </a:ext>
            </a:extLst>
          </p:cNvPr>
          <p:cNvSpPr txBox="1"/>
          <p:nvPr/>
        </p:nvSpPr>
        <p:spPr>
          <a:xfrm rot="10800000" flipH="1" flipV="1">
            <a:off x="769532" y="6859430"/>
            <a:ext cx="370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F1115"/>
                </a:solidFill>
              </a:rPr>
              <a:t>Prevents ₹10,000+ Cr annual fraud losses</a:t>
            </a:r>
            <a:endParaRPr lang="en-US" sz="1800" dirty="0"/>
          </a:p>
        </p:txBody>
      </p:sp>
      <p:pic>
        <p:nvPicPr>
          <p:cNvPr id="20" name="Picture 19" descr="A logo of a person in a shield&#10;&#10;AI-generated content may be incorrect.">
            <a:extLst>
              <a:ext uri="{FF2B5EF4-FFF2-40B4-BE49-F238E27FC236}">
                <a16:creationId xmlns:a16="http://schemas.microsoft.com/office/drawing/2014/main" id="{2A57BDC3-B3F2-484C-8D08-BEFAB7CEBC6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1226" y="6843737"/>
            <a:ext cx="795788" cy="6665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Picture 20" descr="A clock and gear with a tick&#10;&#10;AI-generated content may be incorrect.">
            <a:extLst>
              <a:ext uri="{FF2B5EF4-FFF2-40B4-BE49-F238E27FC236}">
                <a16:creationId xmlns:a16="http://schemas.microsoft.com/office/drawing/2014/main" id="{A633815F-FD71-4715-9F34-69007F7E462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771" y="8334568"/>
            <a:ext cx="500867" cy="548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 descr="A magnifying glass with colorful bars&#10;&#10;AI-generated content may be incorrect.">
            <a:extLst>
              <a:ext uri="{FF2B5EF4-FFF2-40B4-BE49-F238E27FC236}">
                <a16:creationId xmlns:a16="http://schemas.microsoft.com/office/drawing/2014/main" id="{7B96069C-D31E-477E-8013-B5991E55B799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7665" y="8151040"/>
            <a:ext cx="787163" cy="71168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15E7268-6C7A-419E-BEB7-9F7456466A92}"/>
              </a:ext>
            </a:extLst>
          </p:cNvPr>
          <p:cNvSpPr txBox="1"/>
          <p:nvPr/>
        </p:nvSpPr>
        <p:spPr>
          <a:xfrm>
            <a:off x="5011247" y="6892580"/>
            <a:ext cx="3364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F1115"/>
                </a:solidFill>
              </a:rPr>
              <a:t>Protects 300M+digital payment users</a:t>
            </a:r>
            <a:endParaRPr lang="en-US" dirty="0"/>
          </a:p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5D7300-C69B-49F8-B25A-97AA1DBA24A0}"/>
              </a:ext>
            </a:extLst>
          </p:cNvPr>
          <p:cNvSpPr txBox="1"/>
          <p:nvPr/>
        </p:nvSpPr>
        <p:spPr>
          <a:xfrm>
            <a:off x="746063" y="8315667"/>
            <a:ext cx="3508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F1115"/>
                </a:solidFill>
              </a:rPr>
              <a:t>Real-time detection across SMS, links, UPI &amp; images</a:t>
            </a:r>
            <a:endParaRPr lang="en-US" sz="1800" b="1" dirty="0"/>
          </a:p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0BF3DF-3128-43E7-8DC7-11E9796D34FE}"/>
              </a:ext>
            </a:extLst>
          </p:cNvPr>
          <p:cNvSpPr txBox="1"/>
          <p:nvPr/>
        </p:nvSpPr>
        <p:spPr>
          <a:xfrm>
            <a:off x="5286369" y="8315667"/>
            <a:ext cx="3216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Up to 90–95% fraud detection accuracy</a:t>
            </a:r>
            <a:endParaRPr lang="en-US" sz="1800" b="1" dirty="0">
              <a:latin typeface="Calibri"/>
              <a:ea typeface="Calibri"/>
              <a:cs typeface="Calibri"/>
            </a:endParaRPr>
          </a:p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BEB796A-8FFE-4EEA-8241-848F2E5C1B9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40855" y="6618731"/>
            <a:ext cx="2976466" cy="259874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25D2385-01FC-426F-BB8F-DC1072F9E5CF}"/>
              </a:ext>
            </a:extLst>
          </p:cNvPr>
          <p:cNvSpPr txBox="1"/>
          <p:nvPr/>
        </p:nvSpPr>
        <p:spPr>
          <a:xfrm>
            <a:off x="11430000" y="3329416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ea typeface="Calibri"/>
                <a:cs typeface="Calibri"/>
              </a:rPr>
              <a:t>OWERED FRAUD DETECTION</a:t>
            </a:r>
          </a:p>
          <a:p>
            <a:endParaRPr lang="en-IN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9E39530-BA38-4034-9E01-DDBB1B96AC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49200" y="2564170"/>
            <a:ext cx="5270172" cy="677032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385009F-58ED-FCA5-6CA3-00A275ADA31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t="4069" r="18730" b="16835"/>
          <a:stretch>
            <a:fillRect/>
          </a:stretch>
        </p:blipFill>
        <p:spPr>
          <a:xfrm>
            <a:off x="13866541" y="151685"/>
            <a:ext cx="1822436" cy="15346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TECH</a:t>
            </a:r>
            <a:r>
              <a:rPr spc="-65" dirty="0"/>
              <a:t> </a:t>
            </a:r>
            <a:r>
              <a:rPr spc="200" dirty="0"/>
              <a:t>STACK</a:t>
            </a:r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6491" y="60671"/>
            <a:ext cx="17346950" cy="9838146"/>
            <a:chOff x="557530" y="71388"/>
            <a:chExt cx="17346950" cy="9838146"/>
          </a:xfrm>
        </p:grpSpPr>
        <p:sp>
          <p:nvSpPr>
            <p:cNvPr id="5" name="object 5"/>
            <p:cNvSpPr/>
            <p:nvPr/>
          </p:nvSpPr>
          <p:spPr>
            <a:xfrm>
              <a:off x="6513096" y="2576984"/>
              <a:ext cx="11270615" cy="0"/>
            </a:xfrm>
            <a:custGeom>
              <a:avLst/>
              <a:gdLst/>
              <a:ahLst/>
              <a:cxnLst/>
              <a:rect l="l" t="t" r="r" b="b"/>
              <a:pathLst>
                <a:path w="11270615">
                  <a:moveTo>
                    <a:pt x="0" y="0"/>
                  </a:moveTo>
                  <a:lnTo>
                    <a:pt x="11270019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41590" y="2445619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412CB3-2565-49A5-8F4E-7F0FB1F1E9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52700"/>
            <a:ext cx="6096000" cy="6836894"/>
          </a:xfrm>
          <a:prstGeom prst="roundRect">
            <a:avLst>
              <a:gd name="adj" fmla="val 23810"/>
            </a:avLst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7BBF335-AE32-44FD-84AB-AA42B7DC55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5872"/>
          <a:stretch>
            <a:fillRect/>
          </a:stretch>
        </p:blipFill>
        <p:spPr>
          <a:xfrm>
            <a:off x="5943600" y="3166436"/>
            <a:ext cx="12224045" cy="59691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59D94C-B39F-416D-8324-9138C9973A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74511" y="2848170"/>
            <a:ext cx="4185885" cy="5695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25C1DC-BD4C-4F76-9102-2EA48A7FA3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0" y="8750137"/>
            <a:ext cx="13258800" cy="7211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841CA7-93C5-BA83-FF20-38527CE2B51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t="4069" r="18730" b="16835"/>
          <a:stretch>
            <a:fillRect/>
          </a:stretch>
        </p:blipFill>
        <p:spPr>
          <a:xfrm>
            <a:off x="13866541" y="151685"/>
            <a:ext cx="1822436" cy="1534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008" y="1763921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50" spc="70" dirty="0"/>
              <a:t>UNIQUE</a:t>
            </a:r>
            <a:r>
              <a:rPr sz="5550" spc="60" dirty="0"/>
              <a:t> </a:t>
            </a:r>
            <a:r>
              <a:rPr sz="5550" dirty="0"/>
              <a:t>SELLING</a:t>
            </a:r>
            <a:r>
              <a:rPr sz="5550" spc="65" dirty="0"/>
              <a:t> </a:t>
            </a:r>
            <a:r>
              <a:rPr sz="5550" dirty="0"/>
              <a:t>PROPOSITION</a:t>
            </a:r>
            <a:r>
              <a:rPr sz="5550" spc="65" dirty="0"/>
              <a:t> </a:t>
            </a:r>
            <a:r>
              <a:rPr sz="5550" spc="-20" dirty="0"/>
              <a:t>(USP)</a:t>
            </a:r>
            <a:endParaRPr sz="5550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4785583" y="2518640"/>
            <a:ext cx="3000302" cy="262890"/>
            <a:chOff x="14785583" y="2518640"/>
            <a:chExt cx="3000302" cy="262890"/>
          </a:xfrm>
        </p:grpSpPr>
        <p:sp>
          <p:nvSpPr>
            <p:cNvPr id="5" name="object 5"/>
            <p:cNvSpPr/>
            <p:nvPr/>
          </p:nvSpPr>
          <p:spPr>
            <a:xfrm>
              <a:off x="14785583" y="2650005"/>
              <a:ext cx="2826385" cy="0"/>
            </a:xfrm>
            <a:custGeom>
              <a:avLst/>
              <a:gdLst/>
              <a:ahLst/>
              <a:cxnLst/>
              <a:rect l="l" t="t" r="r" b="b"/>
              <a:pathLst>
                <a:path w="2826384">
                  <a:moveTo>
                    <a:pt x="0" y="0"/>
                  </a:moveTo>
                  <a:lnTo>
                    <a:pt x="2825913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22995" y="2518640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8" name="object 8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D94255-6AC1-4B61-8CD3-2CDDCEC6F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3314" y="2800181"/>
            <a:ext cx="2846285" cy="687644"/>
          </a:xfrm>
          <a:prstGeom prst="roundRect">
            <a:avLst>
              <a:gd name="adj" fmla="val 50000"/>
            </a:avLst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3E99BBE-BC1D-4AA4-B314-427A1D0510C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62999" y="2705412"/>
            <a:ext cx="3360167" cy="683155"/>
          </a:xfrm>
          <a:prstGeom prst="roundRect">
            <a:avLst>
              <a:gd name="adj" fmla="val 50000"/>
            </a:avLst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A811F7-AF3E-4B50-9E04-57C2507BD99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618" y="3888708"/>
            <a:ext cx="4848808" cy="510539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3355F2C-81D2-4B9C-A3D2-543350451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4811"/>
          <a:stretch>
            <a:fillRect/>
          </a:stretch>
        </p:blipFill>
        <p:spPr>
          <a:xfrm>
            <a:off x="5331218" y="3280876"/>
            <a:ext cx="12728181" cy="64991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B80EBA-605D-A46F-E0F7-BDB869C547D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t="4069" r="18730" b="16835"/>
          <a:stretch>
            <a:fillRect/>
          </a:stretch>
        </p:blipFill>
        <p:spPr>
          <a:xfrm>
            <a:off x="13866541" y="151685"/>
            <a:ext cx="1822436" cy="1534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22117" y="1656230"/>
            <a:ext cx="8566472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95" dirty="0"/>
              <a:t> IMPACT </a:t>
            </a:r>
            <a:r>
              <a:rPr spc="-240" dirty="0"/>
              <a:t> </a:t>
            </a:r>
            <a:r>
              <a:rPr spc="-350" dirty="0"/>
              <a:t>&amp;</a:t>
            </a:r>
            <a:r>
              <a:rPr spc="-114" dirty="0"/>
              <a:t> </a:t>
            </a:r>
            <a:r>
              <a:rPr lang="en-IN" spc="110" dirty="0"/>
              <a:t> FUTURE</a:t>
            </a:r>
            <a:endParaRPr spc="110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1842" cy="9838146"/>
            <a:chOff x="557530" y="71388"/>
            <a:chExt cx="17361842" cy="9838146"/>
          </a:xfrm>
        </p:grpSpPr>
        <p:sp>
          <p:nvSpPr>
            <p:cNvPr id="5" name="object 5"/>
            <p:cNvSpPr/>
            <p:nvPr/>
          </p:nvSpPr>
          <p:spPr>
            <a:xfrm>
              <a:off x="13359518" y="2623774"/>
              <a:ext cx="4438650" cy="0"/>
            </a:xfrm>
            <a:custGeom>
              <a:avLst/>
              <a:gdLst/>
              <a:ahLst/>
              <a:cxnLst/>
              <a:rect l="l" t="t" r="r" b="b"/>
              <a:pathLst>
                <a:path w="4438650">
                  <a:moveTo>
                    <a:pt x="0" y="0"/>
                  </a:moveTo>
                  <a:lnTo>
                    <a:pt x="4438488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2" y="2492409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4E280E-3B92-4F9C-9A2E-7BEE42AC7E1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2992" y="3162299"/>
            <a:ext cx="6633845" cy="320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075DB56-332B-4B14-8C9C-FE29658218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8393" b="7791"/>
          <a:stretch>
            <a:fillRect/>
          </a:stretch>
        </p:blipFill>
        <p:spPr>
          <a:xfrm>
            <a:off x="9044646" y="2860432"/>
            <a:ext cx="8753522" cy="388326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877514F-A80C-49C7-AC32-BB799506F5D3}"/>
              </a:ext>
            </a:extLst>
          </p:cNvPr>
          <p:cNvGrpSpPr/>
          <p:nvPr/>
        </p:nvGrpSpPr>
        <p:grpSpPr>
          <a:xfrm>
            <a:off x="822117" y="6954123"/>
            <a:ext cx="15560883" cy="2444519"/>
            <a:chOff x="1371604" y="5055057"/>
            <a:chExt cx="9406787" cy="180294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58A1579-E2A3-483E-B678-96240E77B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71604" y="5101938"/>
              <a:ext cx="3346312" cy="1756062"/>
            </a:xfrm>
            <a:prstGeom prst="rect">
              <a:avLst/>
            </a:prstGeom>
            <a:effectLst>
              <a:softEdge rad="31750"/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79255C9-0F19-47B7-BF1A-3991F3F0C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17916" y="5055057"/>
              <a:ext cx="3114235" cy="1738177"/>
            </a:xfrm>
            <a:prstGeom prst="rect">
              <a:avLst/>
            </a:prstGeom>
            <a:effectLst>
              <a:softEdge rad="31750"/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EC5FCA6-0777-49C2-B2DF-6D50C08E1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32151" y="5101938"/>
              <a:ext cx="2946240" cy="1644414"/>
            </a:xfrm>
            <a:prstGeom prst="rect">
              <a:avLst/>
            </a:prstGeom>
            <a:effectLst>
              <a:softEdge rad="31750"/>
            </a:effectLst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12E5783-471B-FC38-43A1-9F2F72E225A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t="4069" r="18730" b="16835"/>
          <a:stretch>
            <a:fillRect/>
          </a:stretch>
        </p:blipFill>
        <p:spPr>
          <a:xfrm>
            <a:off x="13866541" y="151685"/>
            <a:ext cx="1822436" cy="15346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405807" cy="9838146"/>
            <a:chOff x="557530" y="71388"/>
            <a:chExt cx="17405807" cy="9838146"/>
          </a:xfrm>
        </p:grpSpPr>
        <p:sp>
          <p:nvSpPr>
            <p:cNvPr id="5" name="object 5"/>
            <p:cNvSpPr/>
            <p:nvPr/>
          </p:nvSpPr>
          <p:spPr>
            <a:xfrm>
              <a:off x="9812701" y="2455921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>
                  <a:moveTo>
                    <a:pt x="0" y="0"/>
                  </a:moveTo>
                  <a:lnTo>
                    <a:pt x="810761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700447" y="2324556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5B488B-DD49-4C57-BF15-C44D99D573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90035" y="5312043"/>
            <a:ext cx="3429000" cy="6535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060BB2-E771-4913-AC6D-C3A5A0ADA5F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58101" y="2705412"/>
            <a:ext cx="5638800" cy="6781481"/>
          </a:xfrm>
          <a:prstGeom prst="round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B20D1F-67F3-4973-AD26-684F54BC4B0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43197" y="2542049"/>
            <a:ext cx="6401803" cy="3523386"/>
          </a:xfrm>
          <a:prstGeom prst="roundRect">
            <a:avLst>
              <a:gd name="adj" fmla="val 22242"/>
            </a:avLst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3C7F6F-F92E-4F3E-8FF0-009B8069E5F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8847" y="6215015"/>
            <a:ext cx="6324600" cy="3059871"/>
          </a:xfrm>
          <a:prstGeom prst="round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AE157B-5839-4812-90D4-89F45A6C74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4971" y="6492349"/>
            <a:ext cx="838226" cy="307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23328D-F5BC-4A16-889A-DE60BF2C70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4971" y="2857500"/>
            <a:ext cx="691642" cy="2892484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93039" y="1866900"/>
            <a:ext cx="139985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545"/>
              </a:spcBef>
              <a:tabLst>
                <a:tab pos="1414780" algn="l"/>
                <a:tab pos="1957070" algn="l"/>
              </a:tabLst>
            </a:pPr>
            <a:r>
              <a:rPr lang="pt-BR" sz="3600" spc="-300" dirty="0">
                <a:latin typeface="Segoe UI Black" panose="020B0A02040204020203" pitchFamily="34" charset="0"/>
                <a:ea typeface="Segoe UI Black" panose="020B0A02040204020203" pitchFamily="34" charset="0"/>
                <a:cs typeface="Verdana"/>
              </a:rPr>
              <a:t>F E A S I B I L I T Y , C H A L L E N G E S  &amp;  C O M P E T I T O R  A N A L Y S I 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2A54976-17BB-72F6-06CE-C388F39567A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t="4069" r="18730" b="16835"/>
          <a:stretch>
            <a:fillRect/>
          </a:stretch>
        </p:blipFill>
        <p:spPr>
          <a:xfrm>
            <a:off x="13866541" y="151685"/>
            <a:ext cx="1822436" cy="15346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608BF-60A0-0053-0D85-AD63D1CA2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EF19FD5-3720-8AB2-43C2-86C4A371EAAC}"/>
              </a:ext>
            </a:extLst>
          </p:cNvPr>
          <p:cNvSpPr/>
          <p:nvPr/>
        </p:nvSpPr>
        <p:spPr>
          <a:xfrm>
            <a:off x="462280" y="1789984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5F9B5174-A0DC-2249-2BB0-28E7B0E5A7D5}"/>
              </a:ext>
            </a:extLst>
          </p:cNvPr>
          <p:cNvGrpSpPr/>
          <p:nvPr/>
        </p:nvGrpSpPr>
        <p:grpSpPr>
          <a:xfrm>
            <a:off x="557530" y="71388"/>
            <a:ext cx="17361842" cy="9838146"/>
            <a:chOff x="557530" y="71388"/>
            <a:chExt cx="17361842" cy="9838146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6BF121F1-FE84-2404-AE3D-F586BD91307E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8D66996-7B99-AD35-460F-50871EE4539F}"/>
                </a:ext>
              </a:extLst>
            </p:cNvPr>
            <p:cNvSpPr/>
            <p:nvPr/>
          </p:nvSpPr>
          <p:spPr>
            <a:xfrm>
              <a:off x="9680247" y="2840220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>
                  <a:moveTo>
                    <a:pt x="0" y="0"/>
                  </a:moveTo>
                  <a:lnTo>
                    <a:pt x="810761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6AE94C-EF05-0EC6-E149-E763477A8363}"/>
                </a:ext>
              </a:extLst>
            </p:cNvPr>
            <p:cNvSpPr/>
            <p:nvPr/>
          </p:nvSpPr>
          <p:spPr>
            <a:xfrm>
              <a:off x="17656482" y="270877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3E0BAF8-58C5-3AC6-7B03-D45981B0E369}"/>
                </a:ext>
              </a:extLst>
            </p:cNvPr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2E7E81C-1ED7-FA36-772A-0E387B8C17E7}"/>
                </a:ext>
              </a:extLst>
            </p:cNvPr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BE2F8C5-14CA-1DB5-6C83-C0EA5974DBA7}"/>
                </a:ext>
              </a:extLst>
            </p:cNvPr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62000A21-6B3E-25E1-DC12-65405B3A36C6}"/>
                </a:ext>
              </a:extLst>
            </p:cNvPr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5BE3151C-FF6D-F9D5-0934-8B7FC177403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6098BC5-E699-5CE9-2B62-E4F54F0625C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615A228-78D8-48E9-338C-36F16F22B425}"/>
              </a:ext>
            </a:extLst>
          </p:cNvPr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05E599E-7DF0-2C18-4774-68C943AC4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299" y="1719400"/>
            <a:ext cx="1399857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spc="-300" dirty="0">
                <a:latin typeface="Segoe UI Black" panose="020B0A02040204020203" pitchFamily="34" charset="0"/>
                <a:ea typeface="Segoe UI Black" panose="020B0A02040204020203" pitchFamily="34" charset="0"/>
                <a:cs typeface="Verdana"/>
              </a:rPr>
              <a:t>R E F E R E N C E S ,  </a:t>
            </a:r>
            <a:br>
              <a:rPr lang="pt-BR" sz="3600" spc="-300" dirty="0">
                <a:latin typeface="Segoe UI Black" panose="020B0A02040204020203" pitchFamily="34" charset="0"/>
                <a:ea typeface="Segoe UI Black" panose="020B0A02040204020203" pitchFamily="34" charset="0"/>
                <a:cs typeface="Verdana"/>
              </a:rPr>
            </a:br>
            <a:r>
              <a:rPr lang="pt-BR" sz="3600" spc="-300" dirty="0">
                <a:latin typeface="Segoe UI Black" panose="020B0A02040204020203" pitchFamily="34" charset="0"/>
                <a:ea typeface="Segoe UI Black" panose="020B0A02040204020203" pitchFamily="34" charset="0"/>
                <a:cs typeface="Verdana"/>
              </a:rPr>
              <a:t>G I T H U B  R E P O S I T O R Y  &amp;  D E M O  L I N K</a:t>
            </a:r>
            <a:endParaRPr sz="3600" spc="-3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C5B62E-F0D6-6F71-4FA6-E14D12D209BE}"/>
              </a:ext>
            </a:extLst>
          </p:cNvPr>
          <p:cNvGrpSpPr/>
          <p:nvPr/>
        </p:nvGrpSpPr>
        <p:grpSpPr>
          <a:xfrm>
            <a:off x="557530" y="3352427"/>
            <a:ext cx="5445781" cy="5873234"/>
            <a:chOff x="561022" y="3600436"/>
            <a:chExt cx="5347039" cy="564926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CE8C8F-7248-EDB8-4C66-D4F471207A6C}"/>
                </a:ext>
              </a:extLst>
            </p:cNvPr>
            <p:cNvSpPr txBox="1"/>
            <p:nvPr/>
          </p:nvSpPr>
          <p:spPr>
            <a:xfrm>
              <a:off x="561022" y="3600436"/>
              <a:ext cx="5347039" cy="564926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I4C &amp; National Cyber Crime Reporting Portal (Govt of India - Helpline 1930)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MITRE ATT&amp;CK® Matrix for Enterprise &amp; Phishing Techniques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Google Gemini Vision 1.5 &amp; Groq LPU Inference Documentation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CERT-In Advisory on Social Engineering &amp; UPI Digital Arrest Scams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Supabase Architecture &amp; Row-Level Security (RLS) Best Practices</a:t>
              </a: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B0CA66E-F658-6DB4-66ED-92DDAFD22720}"/>
                </a:ext>
              </a:extLst>
            </p:cNvPr>
            <p:cNvSpPr txBox="1"/>
            <p:nvPr/>
          </p:nvSpPr>
          <p:spPr>
            <a:xfrm>
              <a:off x="1366705" y="3600436"/>
              <a:ext cx="3735671" cy="78319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📚 RESEARCH, DATASETS &amp; </a:t>
              </a:r>
              <a:br>
                <a: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   OFFICIAL REFERENCES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FDDD57-C26B-8691-9317-3E78C3B7FE7F}"/>
              </a:ext>
            </a:extLst>
          </p:cNvPr>
          <p:cNvGrpSpPr/>
          <p:nvPr/>
        </p:nvGrpSpPr>
        <p:grpSpPr>
          <a:xfrm>
            <a:off x="6611849" y="3369683"/>
            <a:ext cx="5439846" cy="5575050"/>
            <a:chOff x="6828204" y="3080496"/>
            <a:chExt cx="5439846" cy="557505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0F685D9-6109-AAD8-FDA6-4FB1B5122874}"/>
                </a:ext>
              </a:extLst>
            </p:cNvPr>
            <p:cNvSpPr txBox="1"/>
            <p:nvPr/>
          </p:nvSpPr>
          <p:spPr>
            <a:xfrm>
              <a:off x="6828204" y="3086100"/>
              <a:ext cx="5439846" cy="556944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Repository: </a:t>
              </a: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  <a:hlinkClick r:id="rId5"/>
                </a:rPr>
                <a:t>https://github.com/ImperialCoder01/GhostNet</a:t>
              </a: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Tech Stack: React 18 + Vite 6 + Tailwind CSS + Capacitor 8 Android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AI Pipeline: Groq LPU (Sub-250ms NLP) + Google Gemini Vision OCR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Backend &amp; DB: Vercel Edge Serverless + Supabase PostgreSQL (RLS)</a:t>
              </a: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BFB318-4844-4061-DD5E-1DC72B65FF4B}"/>
                </a:ext>
              </a:extLst>
            </p:cNvPr>
            <p:cNvSpPr txBox="1"/>
            <p:nvPr/>
          </p:nvSpPr>
          <p:spPr>
            <a:xfrm>
              <a:off x="7680291" y="3080496"/>
              <a:ext cx="3735671" cy="78319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📦 GITHUB REPOSITORY &amp; </a:t>
              </a:r>
            </a:p>
            <a:p>
              <a:r>
                <a: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   SOURCE CODE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96C827E-5E74-80B6-7749-156442AA6601}"/>
              </a:ext>
            </a:extLst>
          </p:cNvPr>
          <p:cNvGrpSpPr/>
          <p:nvPr/>
        </p:nvGrpSpPr>
        <p:grpSpPr>
          <a:xfrm>
            <a:off x="12660233" y="3352427"/>
            <a:ext cx="5127694" cy="5826903"/>
            <a:chOff x="12660233" y="3352427"/>
            <a:chExt cx="5127694" cy="582690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881867E-0194-3B7A-9572-04BF1233A2EF}"/>
                </a:ext>
              </a:extLst>
            </p:cNvPr>
            <p:cNvSpPr txBox="1"/>
            <p:nvPr/>
          </p:nvSpPr>
          <p:spPr>
            <a:xfrm>
              <a:off x="12660233" y="3357888"/>
              <a:ext cx="5127694" cy="582144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8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Live Web Application: </a:t>
              </a:r>
              <a:b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  <a:hlinkClick r:id="rId6"/>
                </a:rPr>
                <a:t>https://ghost-net-zeta.vercel.app/</a:t>
              </a:r>
              <a:b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  <a:hlinkClick r:id="rId6"/>
                </a:rPr>
              </a:br>
              <a:endParaRPr lang="en-US" sz="1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Mobile APK: Native Android Build (Capacitor 8 Mobile Shell)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Interactive Features:</a:t>
              </a:r>
            </a:p>
            <a:p>
              <a:endParaRPr lang="en-US" sz="1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342900" indent="-342900">
                <a:buFont typeface="+mj-lt"/>
                <a:buAutoNum type="arabicParenR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Threat Reconstruction™ 5-Stage Attack Kill-Chain</a:t>
              </a:r>
            </a:p>
            <a:p>
              <a:pPr marL="342900" indent="-342900">
                <a:buFont typeface="+mj-lt"/>
                <a:buAutoNum type="arabicParenR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"What Happens If I Click?" Zero-Execution Sandbox</a:t>
              </a:r>
            </a:p>
            <a:p>
              <a:pPr marL="342900" indent="-342900">
                <a:buFont typeface="+mj-lt"/>
                <a:buAutoNum type="arabicParenR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1-Tap Senior &amp; Family Safety Mode</a:t>
              </a:r>
            </a:p>
            <a:p>
              <a:pPr marL="342900" indent="-342900">
                <a:buFont typeface="+mj-lt"/>
                <a:buAutoNum type="arabicParenR"/>
              </a:pPr>
              <a:r>
                <a:rPr lang="en-US" sz="1800" dirty="0">
                  <a:latin typeface="Segoe UI" panose="020B0502040204020203" pitchFamily="34" charset="0"/>
                  <a:cs typeface="Segoe UI" panose="020B0502040204020203" pitchFamily="34" charset="0"/>
                </a:rPr>
                <a:t>Global Scam Telemetry &amp; Heatmap Radar</a:t>
              </a: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55486A8-0847-474D-E16C-96E43134F489}"/>
                </a:ext>
              </a:extLst>
            </p:cNvPr>
            <p:cNvSpPr txBox="1"/>
            <p:nvPr/>
          </p:nvSpPr>
          <p:spPr>
            <a:xfrm>
              <a:off x="13568186" y="3352427"/>
              <a:ext cx="3311787" cy="442674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🌐 LIVE DEMO WEB APP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59C3640-2B59-20FF-9543-727CD3C4CBF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t="4069" r="18730" b="16835"/>
          <a:stretch>
            <a:fillRect/>
          </a:stretch>
        </p:blipFill>
        <p:spPr>
          <a:xfrm>
            <a:off x="13866541" y="151685"/>
            <a:ext cx="1822436" cy="153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54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89949" y="0"/>
            <a:ext cx="13708876" cy="10286999"/>
            <a:chOff x="4089949" y="0"/>
            <a:chExt cx="13708876" cy="1028699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949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729681" y="2574444"/>
              <a:ext cx="5948045" cy="0"/>
            </a:xfrm>
            <a:custGeom>
              <a:avLst/>
              <a:gdLst/>
              <a:ahLst/>
              <a:cxnLst/>
              <a:rect l="l" t="t" r="r" b="b"/>
              <a:pathLst>
                <a:path w="5948044">
                  <a:moveTo>
                    <a:pt x="0" y="0"/>
                  </a:moveTo>
                  <a:lnTo>
                    <a:pt x="594778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35935" y="2443080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220" dirty="0"/>
              <a:t>   CONCLUSION</a:t>
            </a:r>
            <a:endParaRPr spc="240" dirty="0"/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2432AA-D143-4A68-9E97-E26BA602301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4816" y="2850359"/>
            <a:ext cx="8309184" cy="65096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4830132-F53A-4AC5-9E08-98389CE3A72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7464" b="8999"/>
          <a:stretch>
            <a:fillRect/>
          </a:stretch>
        </p:blipFill>
        <p:spPr>
          <a:xfrm>
            <a:off x="10324058" y="4731665"/>
            <a:ext cx="6592342" cy="2640724"/>
          </a:xfrm>
          <a:prstGeom prst="roundRect">
            <a:avLst/>
          </a:prstGeom>
          <a:effectLst>
            <a:softEdge rad="31750"/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9B2E2B3-EC0B-4652-8AEE-4CFF93972625}"/>
              </a:ext>
            </a:extLst>
          </p:cNvPr>
          <p:cNvSpPr txBox="1"/>
          <p:nvPr/>
        </p:nvSpPr>
        <p:spPr>
          <a:xfrm>
            <a:off x="9388588" y="3019653"/>
            <a:ext cx="8150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Problem</a:t>
            </a:r>
            <a:br>
              <a:rPr lang="en-US" sz="2400" dirty="0"/>
            </a:br>
            <a:r>
              <a:rPr lang="en-US" sz="2400" dirty="0"/>
              <a:t>Exploding scams, zero real-time defense.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Our Solution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E9F187-93AA-4899-9E3E-7D284BA29F8D}"/>
              </a:ext>
            </a:extLst>
          </p:cNvPr>
          <p:cNvSpPr txBox="1"/>
          <p:nvPr/>
        </p:nvSpPr>
        <p:spPr>
          <a:xfrm>
            <a:off x="9548127" y="7429500"/>
            <a:ext cx="81500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Built for scale, built for impact, built for reality</a:t>
            </a:r>
          </a:p>
          <a:p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06995E4-B4EA-4C4E-878C-8258CA7BCAC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44000" y="8288230"/>
            <a:ext cx="7772400" cy="993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3FC77F8-143C-6761-A6BA-A5A055419A1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t="4069" r="18730" b="16835"/>
          <a:stretch>
            <a:fillRect/>
          </a:stretch>
        </p:blipFill>
        <p:spPr>
          <a:xfrm>
            <a:off x="13866541" y="151685"/>
            <a:ext cx="1822436" cy="15346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Words>737</Words>
  <Application>Microsoft Office PowerPoint</Application>
  <PresentationFormat>Custom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Aptos</vt:lpstr>
      <vt:lpstr>Arial</vt:lpstr>
      <vt:lpstr>Book Antiqua</vt:lpstr>
      <vt:lpstr>Bookman Old Style</vt:lpstr>
      <vt:lpstr>Calibri</vt:lpstr>
      <vt:lpstr>Georgia</vt:lpstr>
      <vt:lpstr>Nirmala UI</vt:lpstr>
      <vt:lpstr>Segoe UI</vt:lpstr>
      <vt:lpstr>Segoe UI Black</vt:lpstr>
      <vt:lpstr>Space Grotesk</vt:lpstr>
      <vt:lpstr>Tahoma</vt:lpstr>
      <vt:lpstr>Verdana</vt:lpstr>
      <vt:lpstr>Office Theme</vt:lpstr>
      <vt:lpstr>BUILD</vt:lpstr>
      <vt:lpstr>PROBLEM STATEMENT</vt:lpstr>
      <vt:lpstr>SOLUTION </vt:lpstr>
      <vt:lpstr>TECH STACK</vt:lpstr>
      <vt:lpstr>UNIQUE SELLING PROPOSITION (USP)</vt:lpstr>
      <vt:lpstr> IMPACT  &amp;  FUTURE</vt:lpstr>
      <vt:lpstr>F E A S I B I L I T Y , C H A L L E N G E S  &amp;  C O M P E T I T O R  A N A L Y S I S</vt:lpstr>
      <vt:lpstr>R E F E R E N C E S ,   G I T H U B  R E P O S I T O R Y  &amp;  D E M O  L I N K</vt:lpstr>
      <vt:lpstr>  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Bharat 2.0  PPT Template</dc:title>
  <dc:creator>Astitva Mishra</dc:creator>
  <cp:keywords>DAHPihDBEhA,BAGWooMjBTU</cp:keywords>
  <cp:lastModifiedBy>Vishal Kumar Tripathi</cp:lastModifiedBy>
  <cp:revision>33</cp:revision>
  <dcterms:created xsi:type="dcterms:W3CDTF">2026-08-25T16:51:39Z</dcterms:created>
  <dcterms:modified xsi:type="dcterms:W3CDTF">2026-09-02T18:00:27Z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2026-08-25T00:00:00Z</vt:filetime>
  </property>
  <property fmtid="{D5CDD505-2E9C-101B-9397-08002B2CF9AE}" pid="6" name="Producer">
    <vt:lpwstr>Canva</vt:lpwstr>
  </property>
</Properties>
</file>